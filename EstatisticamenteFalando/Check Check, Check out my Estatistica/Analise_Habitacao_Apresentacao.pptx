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516" y="12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4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E6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7931E">
              <a:alpha val="7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-457200" y="4114800"/>
            <a:ext cx="1828800" cy="1828800"/>
          </a:xfrm>
          <a:prstGeom prst="ellipse">
            <a:avLst/>
          </a:prstGeom>
          <a:solidFill>
            <a:srgbClr val="FFB84D">
              <a:alpha val="6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ESTATÍSTICA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da Habitação em Portugal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3840480"/>
            <a:ext cx="1828800" cy="54864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3840480"/>
            <a:ext cx="1828800" cy="5486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38328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Municípios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3840480"/>
            <a:ext cx="1828800" cy="5486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539496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Completa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home/claude/Grafico_NUTS_I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022" y="868680"/>
            <a:ext cx="2644418" cy="292608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Qualitativas - Região (NUTS II)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freq_nuts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table(dados$NUTS_II)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freq_nuts_rel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prop.table(freq_nuts)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100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print(freq_nuts)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1B7BA6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Norte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municípios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Centro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municípios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Amostra equilibrada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Predomínio do Norte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Distribuição adequada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Representação regional bem proporcionada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Qualitativas - Equipa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freq_equipa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table(dados$Equipa)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freq_equipa_rel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prop.table(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freq_equipa) * 100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print(freq_equipa)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1B7B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Equipa A: 15 (30%)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Equipa B: 15 (30%)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Equipa C: 20 (40%)</a:t>
            </a:r>
            <a:endParaRPr lang="en-US" sz="1000" dirty="0"/>
          </a:p>
        </p:txBody>
      </p:sp>
      <p:pic>
        <p:nvPicPr>
          <p:cNvPr id="14" name="Image 0" descr="/home/claude/Grafico_Equi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Equipa C lidera (40%)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 e B equilibradas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Distribuição equilibrada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representação entre equipas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Aquisição (VRefAq) - Medidas Localização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media_aq &lt;-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mean(dados$VRefAq)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mediana_aq &lt;-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median(dados$VRefAq)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q1_aq &lt;- quantile(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dados$VRefAq, 0.25)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q3_aq &lt;- quantile(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dados$VRefAq, 0.75)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1B7B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2549.36 €/m²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2531.48 €/m²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2099.95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3039.64</a:t>
            </a:r>
            <a:endParaRPr lang="en-US" sz="900" dirty="0"/>
          </a:p>
        </p:txBody>
      </p:sp>
      <p:pic>
        <p:nvPicPr>
          <p:cNvPr id="14" name="Image 0" descr="/home/claude/Histograma_VRefA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Média ≈ Mediana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Distribuição simétrica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Concentração no centro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Cauda pequena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Aquisição (VRefAq) - Medidas Dispersão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amplitude_aq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max(VRefAq) 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min(VRefAq)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dp_aq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sd(dados$VRefAq)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cv_aq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(dp_aq/media_aq)*100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1B7B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Amplitude: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3121.81 €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 Padrão: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702.05 €/m²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CV: 27.54%</a:t>
            </a:r>
            <a:endParaRPr lang="en-US" sz="900" dirty="0"/>
          </a:p>
        </p:txBody>
      </p:sp>
      <p:pic>
        <p:nvPicPr>
          <p:cNvPr id="14" name="Image 0" descr="/home/claude/Boxplot_VRefA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CV 27.54% = Variabilidade moderada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Heterogeneidade entre municípios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Dispersão típica: 702€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Arrendamento (VRefAr) - Medidas Localização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media_ar &lt;-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mean(dados$VRefAr)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mediana_ar &lt;-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median(dados$VRefAr)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q1_ar &lt;- quantile(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dados$VRefAr, 0.25)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q3_ar &lt;- quantile(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dados$VRefAr, 0.75)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1B7B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11.41 €/m²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11.00 €/m²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8.57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13.32</a:t>
            </a:r>
            <a:endParaRPr lang="en-US" sz="900" dirty="0"/>
          </a:p>
        </p:txBody>
      </p:sp>
      <p:pic>
        <p:nvPicPr>
          <p:cNvPr id="14" name="Image 0" descr="/home/claude/Histograma_VRef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Média ≈ Mediana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Distribuição simétrica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Concentração no centro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Amplo intervalo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Arrendamento (VRefAr) - Medidas Dispersão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amplitude_ar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max(VRefAr) 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min(VRefAr)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dp_ar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sd(dados$VRefAr)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cv_ar &lt;-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(dp_ar/media_ar)*100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1B7B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Amplitude: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14.77 €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 Padrão: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3.46 €/m²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CV: 30.30%</a:t>
            </a:r>
            <a:endParaRPr lang="en-US" sz="900" dirty="0"/>
          </a:p>
        </p:txBody>
      </p:sp>
      <p:pic>
        <p:nvPicPr>
          <p:cNvPr id="14" name="Image 0" descr="/home/claude/Boxplot_VRef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CV 30.30% &gt; CV VRefAq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Mais variável que aquisição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Dispersão elevada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DP = 3.46€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Regional - VRefAq (⚠️ CRÍTICO)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norte_aq &lt;- 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dados$VRefAq[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dados$NUTS_II ==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'Norte']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centro_aq &lt;- 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dados$VRefAq[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dados$NUTS_II ==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'Centro']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mean(norte_aq)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mean(centro_aq)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NORTE: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2874.95 €/m²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🟦 CENTRO: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2134.97 €/m²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739.98€ (34.6%)</a:t>
            </a:r>
            <a:endParaRPr lang="en-US" sz="900" dirty="0"/>
          </a:p>
        </p:txBody>
      </p:sp>
      <p:pic>
        <p:nvPicPr>
          <p:cNvPr id="14" name="Image 0" descr="/home/claude/Boxplot_VRefAq_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FFEBE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ACHADO CRÍTICO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NORTE 35% MAIS CARO!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Disparidade significativa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Estrutura económica diferente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Procura maior no Norte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Regional - VRefAr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norte_ar &lt;- 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dados$VRefAr[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dados$NUTS_II ==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'Norte']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centro_ar &lt;- 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dados$VRefAr[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dados$NUTS_II ==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'Centro']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mean(norte_ar)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mean(centro_ar)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1B7B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NORTE: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12.77 €/m²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🟦 CENTRO: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9.68 €/m²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3.09€ (31.9%)</a:t>
            </a:r>
            <a:endParaRPr lang="en-US" sz="900" dirty="0"/>
          </a:p>
        </p:txBody>
      </p:sp>
      <p:pic>
        <p:nvPicPr>
          <p:cNvPr id="14" name="Image 0" descr="/home/claude/Boxplot_VRefAr_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Também 32% maior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Consistência em ambos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Padrão regional forte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Estrutura económica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Correlação - VRefAq vs VRefAr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correlacao &lt;-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cor(dados$VRefAq,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dados$VRefAr,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method='pearson')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print(correlacao)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if(abs(correlacao)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0.7)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print('FORTE')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FF3E0"/>
          </a:solidFill>
          <a:ln w="381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0.2730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FRACA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 &lt; 0.3)</a:t>
            </a:r>
            <a:endParaRPr lang="en-US" sz="1100" dirty="0"/>
          </a:p>
        </p:txBody>
      </p:sp>
      <p:pic>
        <p:nvPicPr>
          <p:cNvPr id="14" name="Image 0" descr="/home/claude/Diagrama_Dispersao_VRefAq_VRef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1B7B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Mercados independentes!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Explica apenas 7%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Drivers distintos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Políticas diferentes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7B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5199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Núcleos Precários - Distribuição Concentrada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103120" cy="29260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media_nuc &lt;-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dados$n_Nucleos)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dp_nuc &lt;-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sd(dados$n_Nucleos)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cv_nuc &lt;-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(dp_nuc/media_nuc)*100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print(cv_nuc)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560320" y="868680"/>
            <a:ext cx="1965960" cy="2926080"/>
          </a:xfrm>
          <a:prstGeom prst="rect">
            <a:avLst/>
          </a:prstGeom>
          <a:solidFill>
            <a:srgbClr val="F5F7FA"/>
          </a:solidFill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20.02 núcleos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DP: 12.61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CV: 62.98%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SEVERO</a:t>
            </a:r>
            <a:endParaRPr lang="en-US" sz="1000" dirty="0"/>
          </a:p>
        </p:txBody>
      </p:sp>
      <p:pic>
        <p:nvPicPr>
          <p:cNvPr id="14" name="Image 0" descr="/home/claude/Grafico_nNucle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68680"/>
            <a:ext cx="19659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09160" y="868680"/>
            <a:ext cx="1965960" cy="2926080"/>
          </a:xfrm>
          <a:prstGeom prst="rect">
            <a:avLst/>
          </a:prstGeom>
          <a:ln w="254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3"/>
          <p:cNvSpPr/>
          <p:nvPr/>
        </p:nvSpPr>
        <p:spPr>
          <a:xfrm>
            <a:off x="6858000" y="868680"/>
            <a:ext cx="1965960" cy="2926080"/>
          </a:xfrm>
          <a:prstGeom prst="rect">
            <a:avLst/>
          </a:prstGeom>
          <a:solidFill>
            <a:srgbClr val="FFEBEE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858000" y="868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ACHADO CRÍTICO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CV &gt; 60%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SEVERA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Não uniforme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Clusters geográficos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E6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7931E">
              <a:alpha val="7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-457200" y="4114800"/>
            <a:ext cx="1828800" cy="1828800"/>
          </a:xfrm>
          <a:prstGeom prst="ellipse">
            <a:avLst/>
          </a:prstGeom>
          <a:solidFill>
            <a:srgbClr val="FFB84D">
              <a:alpha val="6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717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Disparidade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3474720"/>
            <a:ext cx="2286000" cy="54864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256032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Mercados Independentes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2286000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Precariedade Concentrada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Políticas Diferenciadas por Região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926</Words>
  <Application>Microsoft Office PowerPoint</Application>
  <PresentationFormat>Apresentação no Ecrã (16:9)</PresentationFormat>
  <Paragraphs>283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Henrique Samuel Ribeiro Carneiro</cp:lastModifiedBy>
  <cp:revision>2</cp:revision>
  <dcterms:created xsi:type="dcterms:W3CDTF">2026-01-02T13:11:31Z</dcterms:created>
  <dcterms:modified xsi:type="dcterms:W3CDTF">2026-01-02T13:41:38Z</dcterms:modified>
</cp:coreProperties>
</file>