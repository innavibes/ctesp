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B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65523F"/>
                </a:solidFill>
              </a:defRPr>
            </a:pPr>
            <a:r>
              <a:t>SISTEMA DE GESTÃO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07664" y="3840480"/>
            <a:ext cx="332866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C5500"/>
                </a:solidFill>
              </a:defRPr>
            </a:pPr>
            <a:r>
              <a:rPr dirty="0"/>
              <a:t>DE RESERVAS HOTEL</a:t>
            </a:r>
            <a:r>
              <a:rPr lang="pt-PT" dirty="0"/>
              <a:t>ARIA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B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5523F"/>
          </a:solidFill>
          <a:ln>
            <a:solidFill>
              <a:srgbClr val="655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Visão Geral do Projeto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9144000" cy="18288"/>
          </a:xfrm>
          <a:prstGeom prst="rect">
            <a:avLst/>
          </a:prstGeom>
          <a:solidFill>
            <a:srgbClr val="CC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786E64"/>
                </a:solidFill>
              </a:defRPr>
            </a:pPr>
            <a:r>
              <a:t>Sistema integrado que combina múltiplas tecnologias para gestão eficiente de reservas hoteleiras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63C32"/>
                </a:solidFill>
              </a:defRPr>
            </a:pPr>
            <a:r>
              <a:t>✓ Validação de dados através de esquema XSD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63C32"/>
                </a:solidFill>
              </a:defRPr>
            </a:pPr>
            <a:r>
              <a:t>✓ Endpoints REST implementados em XQuery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63C32"/>
                </a:solidFill>
              </a:defRPr>
            </a:pPr>
            <a:r>
              <a:t>✓ Persistência distribuída em MongoDB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63C32"/>
                </a:solidFill>
              </a:defRPr>
            </a:pPr>
            <a:r>
              <a:t>✓ Análise visual com dashboards interativos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63C32"/>
                </a:solidFill>
              </a:defRPr>
            </a:pPr>
            <a:r>
              <a:t>✓ Performance otimizada (&lt;200ms por requisição)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B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5523F"/>
          </a:solidFill>
          <a:ln>
            <a:solidFill>
              <a:srgbClr val="655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Arquitetura em Camadas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9144000" cy="18288"/>
          </a:xfrm>
          <a:prstGeom prst="rect">
            <a:avLst/>
          </a:prstGeom>
          <a:solidFill>
            <a:srgbClr val="CC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786E64"/>
                </a:solidFill>
              </a:defRPr>
            </a:pPr>
            <a:r>
              <a:t>O sistema é dividido em 4 camadas principais para garantir modularidade e manutenibilidade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7498077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93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93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93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Camada</a:t>
                      </a:r>
                    </a:p>
                  </a:txBody>
                  <a:tcPr>
                    <a:solidFill>
                      <a:srgbClr val="6552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Tecnologia</a:t>
                      </a:r>
                    </a:p>
                  </a:txBody>
                  <a:tcPr>
                    <a:solidFill>
                      <a:srgbClr val="6552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Responsabilidade</a:t>
                      </a:r>
                    </a:p>
                  </a:txBody>
                  <a:tcPr>
                    <a:solidFill>
                      <a:srgbClr val="6552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Validação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XSD Schema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Garantir conformidade de dados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API REST</a:t>
                      </a:r>
                    </a:p>
                  </a:txBody>
                  <a:tcPr>
                    <a:solidFill>
                      <a:srgbClr val="C2A7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XQuery/BaseX</a:t>
                      </a:r>
                    </a:p>
                  </a:txBody>
                  <a:tcPr>
                    <a:solidFill>
                      <a:srgbClr val="C2A7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Consultas e agregações</a:t>
                      </a:r>
                    </a:p>
                  </a:txBody>
                  <a:tcPr>
                    <a:solidFill>
                      <a:srgbClr val="C2A7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Persistência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MongoDB Cluster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Armazenamento distribuído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Visualização</a:t>
                      </a:r>
                    </a:p>
                  </a:txBody>
                  <a:tcPr>
                    <a:solidFill>
                      <a:srgbClr val="C2A7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Dashboards</a:t>
                      </a:r>
                    </a:p>
                  </a:txBody>
                  <a:tcPr>
                    <a:solidFill>
                      <a:srgbClr val="C2A7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Análise visual de dados</a:t>
                      </a:r>
                    </a:p>
                  </a:txBody>
                  <a:tcPr>
                    <a:solidFill>
                      <a:srgbClr val="C2A7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B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5523F"/>
          </a:solidFill>
          <a:ln>
            <a:solidFill>
              <a:srgbClr val="655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Validação de Dados - XSD (1/2)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9144000" cy="18288"/>
          </a:xfrm>
          <a:prstGeom prst="rect">
            <a:avLst/>
          </a:prstGeom>
          <a:solidFill>
            <a:srgbClr val="CC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786E64"/>
                </a:solidFill>
              </a:defRPr>
            </a:pPr>
            <a:r>
              <a:t>Esquema XSD define a estrutura e restrições de validação para documentos XML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7680960" cy="3200400"/>
          </a:xfrm>
          <a:prstGeom prst="rect">
            <a:avLst/>
          </a:prstGeom>
          <a:solidFill>
            <a:srgbClr val="C2A78C"/>
          </a:solidFill>
          <a:ln>
            <a:solidFill>
              <a:srgbClr val="655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"/>
              </a:spcBef>
              <a:defRPr sz="1000">
                <a:solidFill>
                  <a:srgbClr val="463C32"/>
                </a:solidFill>
                <a:latin typeface="Courier New"/>
              </a:defRPr>
            </a:pPr>
            <a:r>
              <a:t>&lt;xs:element name="reserva"&gt;</a:t>
            </a:r>
            <a:br/>
            <a:r>
              <a:t>  &lt;xs:complexType&gt;</a:t>
            </a:r>
            <a:br/>
            <a:r>
              <a:t>    &lt;xs:sequence&gt;</a:t>
            </a:r>
            <a:br/>
            <a:r>
              <a:t>      &lt;xs:element name="numero_reserva" type="xs:string"/&gt;</a:t>
            </a:r>
            <a:br/>
            <a:r>
              <a:t>      &lt;xs:element name="unidade"&gt;</a:t>
            </a:r>
            <a:br/>
            <a:r>
              <a:t>        &lt;xs:restriction base="xs:string"&gt;</a:t>
            </a:r>
            <a:br/>
            <a:r>
              <a:t>          &lt;xs:enumeration value="PO"/&gt;</a:t>
            </a:r>
            <a:br/>
            <a:r>
              <a:t>          &lt;xs:enumeration value="LS"/&gt;</a:t>
            </a:r>
            <a:br/>
            <a:r>
              <a:t>          &lt;xs:enumeration value="FR"/&gt;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C5500"/>
                </a:solidFill>
              </a:defRPr>
            </a:pPr>
            <a:r>
              <a:t>PO=Porto | LS=Lisboa | FR=Faro | CB=Covilhã | BR=Braga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B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5523F"/>
          </a:solidFill>
          <a:ln>
            <a:solidFill>
              <a:srgbClr val="655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Validação de Dados - XSD (2/2)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9144000" cy="18288"/>
          </a:xfrm>
          <a:prstGeom prst="rect">
            <a:avLst/>
          </a:prstGeom>
          <a:solidFill>
            <a:srgbClr val="CC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786E64"/>
                </a:solidFill>
              </a:defRPr>
            </a:pPr>
            <a:r>
              <a:t>Restrições de validação aplicadas aos campos principais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7498077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93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93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93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Campo</a:t>
                      </a:r>
                    </a:p>
                  </a:txBody>
                  <a:tcPr>
                    <a:solidFill>
                      <a:srgbClr val="6552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Tipo</a:t>
                      </a:r>
                    </a:p>
                  </a:txBody>
                  <a:tcPr>
                    <a:solidFill>
                      <a:srgbClr val="6552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Restrição</a:t>
                      </a:r>
                    </a:p>
                  </a:txBody>
                  <a:tcPr>
                    <a:solidFill>
                      <a:srgbClr val="6552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id_cliente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[A-Z]{3}[0-9]{3}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unidade</a:t>
                      </a:r>
                    </a:p>
                  </a:txBody>
                  <a:tcPr>
                    <a:solidFill>
                      <a:srgbClr val="C2A7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Enum</a:t>
                      </a:r>
                    </a:p>
                  </a:txBody>
                  <a:tcPr>
                    <a:solidFill>
                      <a:srgbClr val="C2A7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5 valores permitidos</a:t>
                      </a:r>
                    </a:p>
                  </a:txBody>
                  <a:tcPr>
                    <a:solidFill>
                      <a:srgbClr val="C2A7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quantidade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&gt;=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servicos</a:t>
                      </a:r>
                    </a:p>
                  </a:txBody>
                  <a:tcPr>
                    <a:solidFill>
                      <a:srgbClr val="C2A7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Array</a:t>
                      </a:r>
                    </a:p>
                  </a:txBody>
                  <a:tcPr>
                    <a:solidFill>
                      <a:srgbClr val="C2A7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maxOccurs=4</a:t>
                      </a:r>
                    </a:p>
                  </a:txBody>
                  <a:tcPr>
                    <a:solidFill>
                      <a:srgbClr val="C2A7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valor_total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Decimal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&gt;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38912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5523F"/>
                </a:solidFill>
              </a:defRPr>
            </a:pPr>
            <a:r>
              <a:t>✓ Validação 100%: 0 erros detectados | ✓ Conformidade integral: Todos os 6 registos validam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B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5523F"/>
          </a:solidFill>
          <a:ln>
            <a:solidFill>
              <a:srgbClr val="655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Exemplo de Documento XML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9144000" cy="18288"/>
          </a:xfrm>
          <a:prstGeom prst="rect">
            <a:avLst/>
          </a:prstGeom>
          <a:solidFill>
            <a:srgbClr val="CC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solidFill>
            <a:srgbClr val="C2A78C"/>
          </a:solidFill>
          <a:ln>
            <a:solidFill>
              <a:srgbClr val="655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"/>
              </a:spcBef>
              <a:defRPr sz="1000">
                <a:solidFill>
                  <a:srgbClr val="463C32"/>
                </a:solidFill>
                <a:latin typeface="Courier New"/>
              </a:defRPr>
            </a:pPr>
            <a:r>
              <a:t>&lt;hotel&gt;</a:t>
            </a:r>
            <a:br/>
            <a:r>
              <a:t>  &lt;reserva&gt;</a:t>
            </a:r>
            <a:br/>
            <a:r>
              <a:t>    &lt;numero_reserva&gt;RES1001&lt;/numero_reserva&gt;</a:t>
            </a:r>
            <a:br/>
            <a:r>
              <a:t>    &lt;unidade&gt;PO&lt;/unidade&gt;</a:t>
            </a:r>
            <a:br/>
            <a:r>
              <a:t>    &lt;hospede&gt;</a:t>
            </a:r>
            <a:br/>
            <a:r>
              <a:t>      &lt;id_cliente&gt;CLI001&lt;/id_cliente&gt;</a:t>
            </a:r>
            <a:br/>
            <a:r>
              <a:t>      &lt;nome&gt;Ana Silva&lt;/nome&gt;</a:t>
            </a:r>
            <a:br/>
            <a:r>
              <a:t>    &lt;/hospede&gt;</a:t>
            </a:r>
            <a:br/>
            <a:r>
              <a:t>    &lt;servicos_adicionais&gt;</a:t>
            </a:r>
            <a:br/>
            <a:r>
              <a:t>      &lt;servico&gt;</a:t>
            </a:r>
            <a:br/>
            <a:r>
              <a:t>        &lt;nome&gt;Spa&lt;/nome&gt;</a:t>
            </a:r>
            <a:br/>
            <a:r>
              <a:t>        &lt;preco&gt;50.00&lt;/preco&gt;</a:t>
            </a:r>
            <a:br/>
            <a:r>
              <a:t>        &lt;quantidade&gt;2&lt;/quantidade&gt;</a:t>
            </a:r>
            <a:br/>
            <a:r>
              <a:t>      &lt;/servico&gt;</a:t>
            </a:r>
            <a:br/>
            <a:r>
              <a:t>    &lt;/servicos_adicionais&gt;</a:t>
            </a:r>
            <a:br/>
            <a:r>
              <a:t>    &lt;valor_total&gt;450.00&lt;/valor_total&gt;</a:t>
            </a:r>
            <a:br/>
            <a:r>
              <a:t>  &lt;/reserva&gt;</a:t>
            </a:r>
            <a:br/>
            <a:r>
              <a:t>&lt;/hotel&gt;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B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5523F"/>
          </a:solidFill>
          <a:ln>
            <a:solidFill>
              <a:srgbClr val="655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Evidência 1: Validação XSD bem-sucedida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9144000" cy="18288"/>
          </a:xfrm>
          <a:prstGeom prst="rect">
            <a:avLst/>
          </a:prstGeom>
          <a:solidFill>
            <a:srgbClr val="CC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786E64"/>
                </a:solidFill>
              </a:defRPr>
            </a:pPr>
            <a:r>
              <a:t>Documento hotel.xml foi validado contra esquema hotel.xsd - Resultado: 100% conformidade</a:t>
            </a:r>
          </a:p>
        </p:txBody>
      </p:sp>
      <p:pic>
        <p:nvPicPr>
          <p:cNvPr id="5" name="Picture 4" descr="Evidencia_1_Validacao_XS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54480"/>
            <a:ext cx="7315200" cy="39756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4864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5523F"/>
                </a:solidFill>
              </a:defRPr>
            </a:pPr>
            <a:r>
              <a:rPr dirty="0"/>
              <a:t>✓ 0 </a:t>
            </a:r>
            <a:r>
              <a:rPr dirty="0" err="1"/>
              <a:t>erros</a:t>
            </a:r>
            <a:r>
              <a:rPr dirty="0"/>
              <a:t> </a:t>
            </a:r>
            <a:r>
              <a:rPr dirty="0" err="1"/>
              <a:t>encontrados</a:t>
            </a:r>
            <a:br>
              <a:rPr dirty="0"/>
            </a:br>
            <a:r>
              <a:rPr dirty="0"/>
              <a:t>✓ </a:t>
            </a:r>
            <a:r>
              <a:rPr dirty="0" err="1"/>
              <a:t>Estrutura</a:t>
            </a:r>
            <a:r>
              <a:rPr dirty="0"/>
              <a:t> </a:t>
            </a:r>
            <a:r>
              <a:rPr dirty="0" err="1"/>
              <a:t>conforme</a:t>
            </a:r>
            <a:r>
              <a:rPr dirty="0"/>
              <a:t> </a:t>
            </a:r>
            <a:r>
              <a:rPr dirty="0" err="1"/>
              <a:t>especificação</a:t>
            </a:r>
            <a:r>
              <a:rPr dirty="0"/>
              <a:t> XSD</a:t>
            </a:r>
            <a:br>
              <a:rPr dirty="0"/>
            </a:br>
            <a:r>
              <a:rPr dirty="0"/>
              <a:t>✓ </a:t>
            </a:r>
            <a:r>
              <a:rPr dirty="0" err="1"/>
              <a:t>Conformidade</a:t>
            </a:r>
            <a:r>
              <a:rPr dirty="0"/>
              <a:t> integral </a:t>
            </a:r>
            <a:r>
              <a:rPr dirty="0" err="1"/>
              <a:t>comprovada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B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5523F"/>
          </a:solidFill>
          <a:ln>
            <a:solidFill>
              <a:srgbClr val="655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Dataset - Estatísticas Completas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9144000" cy="18288"/>
          </a:xfrm>
          <a:prstGeom prst="rect">
            <a:avLst/>
          </a:prstGeom>
          <a:solidFill>
            <a:srgbClr val="CC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786E64"/>
                </a:solidFill>
              </a:defRPr>
            </a:pPr>
            <a:r>
              <a:t>Visão geral dos dados persistidos no sistema após validação XSD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7498077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93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93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93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Métrica</a:t>
                      </a:r>
                    </a:p>
                  </a:txBody>
                  <a:tcPr>
                    <a:solidFill>
                      <a:srgbClr val="6552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Valor</a:t>
                      </a:r>
                    </a:p>
                  </a:txBody>
                  <a:tcPr>
                    <a:solidFill>
                      <a:srgbClr val="6552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Descrição</a:t>
                      </a:r>
                    </a:p>
                  </a:txBody>
                  <a:tcPr>
                    <a:solidFill>
                      <a:srgbClr val="6552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Total de Reservas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Documentos XML validados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Clientes Únicos</a:t>
                      </a:r>
                    </a:p>
                  </a:txBody>
                  <a:tcPr>
                    <a:solidFill>
                      <a:srgbClr val="C2A7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C2A7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Ana Silva, Carlos Sousa, John Smith, Maria Ferreira, Roberto Lima</a:t>
                      </a:r>
                    </a:p>
                  </a:txBody>
                  <a:tcPr>
                    <a:solidFill>
                      <a:srgbClr val="C2A7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Unidades Distintas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PO, LS, FR, CB, BR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Serviços Adicionais</a:t>
                      </a:r>
                    </a:p>
                  </a:txBody>
                  <a:tcPr>
                    <a:solidFill>
                      <a:srgbClr val="C2A7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8 unidades</a:t>
                      </a:r>
                    </a:p>
                  </a:txBody>
                  <a:tcPr>
                    <a:solidFill>
                      <a:srgbClr val="C2A7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Jantar, Spa, Bar, Transporte</a:t>
                      </a:r>
                    </a:p>
                  </a:txBody>
                  <a:tcPr>
                    <a:solidFill>
                      <a:srgbClr val="C2A7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Receita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€3.330,50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Soma de todas as reservas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Valor Médio</a:t>
                      </a:r>
                    </a:p>
                  </a:txBody>
                  <a:tcPr>
                    <a:solidFill>
                      <a:srgbClr val="C2A7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€555,08</a:t>
                      </a:r>
                    </a:p>
                  </a:txBody>
                  <a:tcPr>
                    <a:solidFill>
                      <a:srgbClr val="C2A7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Por reserva individual</a:t>
                      </a:r>
                    </a:p>
                  </a:txBody>
                  <a:tcPr>
                    <a:solidFill>
                      <a:srgbClr val="C2A7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B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5523F"/>
          </a:solidFill>
          <a:ln>
            <a:solidFill>
              <a:srgbClr val="655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API REST em XQuery - 3 Endpoints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9144000" cy="18288"/>
          </a:xfrm>
          <a:prstGeom prst="rect">
            <a:avLst/>
          </a:prstGeom>
          <a:solidFill>
            <a:srgbClr val="CC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786E64"/>
                </a:solidFill>
              </a:defRPr>
            </a:pPr>
            <a:r>
              <a:t>Endpoints implementados em XQuery com BaseX para consulta e agregação de dados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77724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Endpoint</a:t>
                      </a:r>
                    </a:p>
                  </a:txBody>
                  <a:tcPr>
                    <a:solidFill>
                      <a:srgbClr val="6552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Método</a:t>
                      </a:r>
                    </a:p>
                  </a:txBody>
                  <a:tcPr>
                    <a:solidFill>
                      <a:srgbClr val="6552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Descrição</a:t>
                      </a:r>
                    </a:p>
                  </a:txBody>
                  <a:tcPr>
                    <a:solidFill>
                      <a:srgbClr val="6552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Tempo</a:t>
                      </a:r>
                    </a:p>
                  </a:txBody>
                  <a:tcPr>
                    <a:solidFill>
                      <a:srgbClr val="6552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/reservas/{id}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Consulta por cliente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35ms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/estatisticas/unidades</a:t>
                      </a:r>
                    </a:p>
                  </a:txBody>
                  <a:tcPr>
                    <a:solidFill>
                      <a:srgbClr val="C2A7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C2A7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Agregação por unidade</a:t>
                      </a:r>
                    </a:p>
                  </a:txBody>
                  <a:tcPr>
                    <a:solidFill>
                      <a:srgbClr val="C2A7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54ms</a:t>
                      </a:r>
                    </a:p>
                  </a:txBody>
                  <a:tcPr>
                    <a:solidFill>
                      <a:srgbClr val="C2A7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/estatisticas/servicos/total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Total de serviços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163ms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38912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5523F"/>
                </a:solidFill>
              </a:defRPr>
            </a:pPr>
            <a:r>
              <a:t>Todos retornam HTTP 200 OK</a:t>
            </a:r>
            <a:br/>
            <a:r>
              <a:t>Todos executam em &lt; 200ms (performance aceitável)</a:t>
            </a:r>
            <a:br/>
            <a:r>
              <a:t>BaseX como servidor XQuery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B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5523F"/>
          </a:solidFill>
          <a:ln>
            <a:solidFill>
              <a:srgbClr val="655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Endpoint 1: Consulta de Reservas por Cliente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9144000" cy="18288"/>
          </a:xfrm>
          <a:prstGeom prst="rect">
            <a:avLst/>
          </a:prstGeom>
          <a:solidFill>
            <a:srgbClr val="CC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786E64"/>
                </a:solidFill>
              </a:defRPr>
            </a:pPr>
            <a:r>
              <a:t>GET /reservas/{id_cliente} - Busca todas as reservas de um cliente específico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7680960" cy="2926080"/>
          </a:xfrm>
          <a:prstGeom prst="rect">
            <a:avLst/>
          </a:prstGeom>
          <a:solidFill>
            <a:srgbClr val="C2A78C"/>
          </a:solidFill>
          <a:ln>
            <a:solidFill>
              <a:srgbClr val="655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"/>
              </a:spcBef>
              <a:defRPr sz="1000">
                <a:solidFill>
                  <a:srgbClr val="463C32"/>
                </a:solidFill>
                <a:latin typeface="Courier New"/>
              </a:defRPr>
            </a:pPr>
            <a:r>
              <a:t>declare %rest:path("reservas/{$id}")</a:t>
            </a:r>
            <a:br/>
            <a:r>
              <a:t>  %rest:GET</a:t>
            </a:r>
            <a:br/>
            <a:r>
              <a:t>function page:reservas-cliente($id) {</a:t>
            </a:r>
            <a:br/>
            <a:r>
              <a:t>  let $db := db:get('hotel')</a:t>
            </a:r>
            <a:br/>
            <a:r>
              <a:t>  for $r in $db/hotel/reserva</a:t>
            </a:r>
            <a:br/>
            <a:r>
              <a:t>  where $r/hospede/id_cliente = $id</a:t>
            </a:r>
            <a:br/>
            <a:r>
              <a:t>  return $r</a:t>
            </a:r>
            <a:br/>
            <a:r>
              <a:t>};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7680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5523F"/>
                </a:solidFill>
              </a:defRPr>
            </a:pPr>
            <a:r>
              <a:t>Lógica: Carrega BD 'hotel' → Itera reservas → Filtra por id_cliente → Retorna resultado</a:t>
            </a:r>
            <a:br/>
            <a:r>
              <a:t>Exemplo: /reservas/CLI001 retorna 2 reservas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B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5523F"/>
          </a:solidFill>
          <a:ln>
            <a:solidFill>
              <a:srgbClr val="655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Evidência 2: Endpoint 1 em Execução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9144000" cy="18288"/>
          </a:xfrm>
          <a:prstGeom prst="rect">
            <a:avLst/>
          </a:prstGeom>
          <a:solidFill>
            <a:srgbClr val="CC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786E64"/>
                </a:solidFill>
              </a:defRPr>
            </a:pPr>
            <a:r>
              <a:t>GET /reservas/CLI001 → Resposta: 2 reservas | HTTP 200 OK | Tempo: 35ms</a:t>
            </a:r>
          </a:p>
        </p:txBody>
      </p:sp>
      <p:pic>
        <p:nvPicPr>
          <p:cNvPr id="5" name="Picture 4" descr="Evidência_1_AP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1215222"/>
            <a:ext cx="5860805" cy="47283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0936" y="5961888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5523F"/>
                </a:solidFill>
              </a:defRPr>
            </a:pPr>
            <a:r>
              <a:rPr dirty="0"/>
              <a:t>✓ Resposta XML </a:t>
            </a:r>
            <a:r>
              <a:rPr dirty="0" err="1"/>
              <a:t>estruturada</a:t>
            </a:r>
            <a:br>
              <a:rPr dirty="0"/>
            </a:br>
            <a:r>
              <a:rPr dirty="0"/>
              <a:t>✓ Todos </a:t>
            </a:r>
            <a:r>
              <a:rPr dirty="0" err="1"/>
              <a:t>os</a:t>
            </a:r>
            <a:r>
              <a:rPr dirty="0"/>
              <a:t> campos </a:t>
            </a:r>
            <a:r>
              <a:rPr dirty="0" err="1"/>
              <a:t>retornam</a:t>
            </a:r>
            <a:r>
              <a:rPr dirty="0"/>
              <a:t> (</a:t>
            </a:r>
            <a:r>
              <a:rPr dirty="0" err="1"/>
              <a:t>hospede</a:t>
            </a:r>
            <a:r>
              <a:rPr dirty="0"/>
              <a:t>, </a:t>
            </a:r>
            <a:r>
              <a:rPr dirty="0" err="1"/>
              <a:t>datas</a:t>
            </a:r>
            <a:r>
              <a:rPr dirty="0"/>
              <a:t>, </a:t>
            </a:r>
            <a:r>
              <a:rPr dirty="0" err="1"/>
              <a:t>serviços</a:t>
            </a:r>
            <a:r>
              <a:rPr dirty="0"/>
              <a:t>, </a:t>
            </a:r>
            <a:r>
              <a:rPr dirty="0" err="1"/>
              <a:t>valor_total</a:t>
            </a:r>
            <a:r>
              <a:rPr dirty="0"/>
              <a:t>)</a:t>
            </a:r>
            <a:br>
              <a:rPr dirty="0"/>
            </a:br>
            <a:r>
              <a:rPr dirty="0"/>
              <a:t>✓ Performance </a:t>
            </a:r>
            <a:r>
              <a:rPr dirty="0" err="1"/>
              <a:t>excelente</a:t>
            </a:r>
            <a:r>
              <a:rPr dirty="0"/>
              <a:t>: 35ms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B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5523F"/>
          </a:solidFill>
          <a:ln>
            <a:solidFill>
              <a:srgbClr val="655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Endpoint 2: Estatísticas por Unidade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9144000" cy="18288"/>
          </a:xfrm>
          <a:prstGeom prst="rect">
            <a:avLst/>
          </a:prstGeom>
          <a:solidFill>
            <a:srgbClr val="CC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786E64"/>
                </a:solidFill>
              </a:defRPr>
            </a:pPr>
            <a:r>
              <a:t>GET /estatisticas/unidades - Retorna agregação de reservas por unidade hoteleira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8229600" cy="3474720"/>
          </a:xfrm>
          <a:prstGeom prst="rect">
            <a:avLst/>
          </a:prstGeom>
          <a:solidFill>
            <a:srgbClr val="C2A78C"/>
          </a:solidFill>
          <a:ln>
            <a:solidFill>
              <a:srgbClr val="655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"/>
              </a:spcBef>
              <a:defRPr sz="1000">
                <a:solidFill>
                  <a:srgbClr val="463C32"/>
                </a:solidFill>
                <a:latin typeface="Courier New"/>
              </a:defRPr>
            </a:pPr>
            <a:r>
              <a:t>declare %rest:path("estatisticas/unidades")</a:t>
            </a:r>
            <a:br/>
            <a:r>
              <a:t>  %rest:GET</a:t>
            </a:r>
            <a:br/>
            <a:r>
              <a:t>function page:reservas-por-unidade() {</a:t>
            </a:r>
            <a:br/>
            <a:r>
              <a:t>  let $db := db:get('hotel')</a:t>
            </a:r>
            <a:br/>
            <a:r>
              <a:t>  let $unidades := distinct-values($db/hotel/reserva/unidade)</a:t>
            </a:r>
            <a:br/>
            <a:r>
              <a:t>  for $u in $unidades</a:t>
            </a:r>
            <a:br/>
            <a:r>
              <a:t>  let $qtd := count($db/hotel/reserva[unidade = $u])</a:t>
            </a:r>
            <a:br/>
            <a:r>
              <a:t>  return &lt;unidade sigla="{$u}"&gt;</a:t>
            </a:r>
            <a:br/>
            <a:r>
              <a:t>    &lt;total_reservas&gt;{$qtd}&lt;/total_reservas&gt;</a:t>
            </a:r>
            <a:br/>
            <a:r>
              <a:t>  &lt;/unidade&gt;</a:t>
            </a:r>
            <a:br/>
            <a:r>
              <a:t>};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B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5523F"/>
          </a:solidFill>
          <a:ln>
            <a:solidFill>
              <a:srgbClr val="655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Evidência 3: Endpoint 2 em Execução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9144000" cy="18288"/>
          </a:xfrm>
          <a:prstGeom prst="rect">
            <a:avLst/>
          </a:prstGeom>
          <a:solidFill>
            <a:srgbClr val="CC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786E64"/>
                </a:solidFill>
              </a:defRPr>
            </a:pPr>
            <a:r>
              <a:t>GET /estatisticas/unidades → Resposta: 5 unidades | HTTP 200 OK | Tempo: 54ms</a:t>
            </a:r>
          </a:p>
        </p:txBody>
      </p:sp>
      <p:pic>
        <p:nvPicPr>
          <p:cNvPr id="5" name="Picture 4" descr="Evidência_2_AP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6261191" cy="471186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9224" y="5973738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5523F"/>
                </a:solidFill>
              </a:defRPr>
            </a:pPr>
            <a:r>
              <a:t>✓ Agregação por unidade funcional</a:t>
            </a:r>
            <a:br/>
            <a:r>
              <a:t>✓ Contagens precisas (PO:2, LS:1, FR:1, CB:1, BR:1 = Total 6)</a:t>
            </a:r>
            <a:br/>
            <a:r>
              <a:t>✓ Resposta XML bem formada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B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5523F"/>
          </a:solidFill>
          <a:ln>
            <a:solidFill>
              <a:srgbClr val="655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Endpoint 3: Total de Serviços Vendidos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9144000" cy="18288"/>
          </a:xfrm>
          <a:prstGeom prst="rect">
            <a:avLst/>
          </a:prstGeom>
          <a:solidFill>
            <a:srgbClr val="CC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786E64"/>
                </a:solidFill>
              </a:defRPr>
            </a:pPr>
            <a:r>
              <a:t>GET /estatisticas/servicos/total - Somatório de todas as unidades de serviços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8229600" cy="3474720"/>
          </a:xfrm>
          <a:prstGeom prst="rect">
            <a:avLst/>
          </a:prstGeom>
          <a:solidFill>
            <a:srgbClr val="C2A78C"/>
          </a:solidFill>
          <a:ln>
            <a:solidFill>
              <a:srgbClr val="655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"/>
              </a:spcBef>
              <a:defRPr sz="1000">
                <a:solidFill>
                  <a:srgbClr val="463C32"/>
                </a:solidFill>
                <a:latin typeface="Courier New"/>
              </a:defRPr>
            </a:pPr>
            <a:r>
              <a:t>declare %rest:path("estatisticas/servicos/total")</a:t>
            </a:r>
            <a:br/>
            <a:r>
              <a:t>  %rest:GET</a:t>
            </a:r>
            <a:br/>
            <a:r>
              <a:t>function page:total-servicos() {</a:t>
            </a:r>
            <a:br/>
            <a:r>
              <a:t>  let $db := db:get('hotel')</a:t>
            </a:r>
            <a:br/>
            <a:r>
              <a:t>  let $total := sum($db/hotel/reserva/servicos_adicionais/</a:t>
            </a:r>
            <a:br/>
            <a:r>
              <a:t>                    servico/quantidade)</a:t>
            </a:r>
            <a:br/>
            <a:r>
              <a:t>  return &lt;total_servicos_vendidos&gt;{$total}</a:t>
            </a:r>
            <a:br/>
            <a:r>
              <a:t>    &lt;/total_servicos_vendidos&gt;</a:t>
            </a:r>
            <a:br/>
            <a:r>
              <a:t>};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C5500"/>
                </a:solidFill>
              </a:defRPr>
            </a:pPr>
            <a:r>
              <a:t>Resultado esperado: 17 (Jantar 6 + Spa 4 + Bar 4 + Transporte 3)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B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5523F"/>
          </a:solidFill>
          <a:ln>
            <a:solidFill>
              <a:srgbClr val="655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Evidência 4: Endpoint 3 em Execução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9144000" cy="18288"/>
          </a:xfrm>
          <a:prstGeom prst="rect">
            <a:avLst/>
          </a:prstGeom>
          <a:solidFill>
            <a:srgbClr val="CC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786E64"/>
                </a:solidFill>
              </a:defRPr>
            </a:pPr>
            <a:r>
              <a:t>GET /estatisticas/servicos/total → Resposta: 17 | HTTP 200 OK | Tempo: 163ms</a:t>
            </a:r>
          </a:p>
        </p:txBody>
      </p:sp>
      <p:pic>
        <p:nvPicPr>
          <p:cNvPr id="5" name="Picture 4" descr="Evidência_3_AP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234440"/>
            <a:ext cx="7379208" cy="44714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47472" y="5742432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5523F"/>
                </a:solidFill>
              </a:defRPr>
            </a:pPr>
            <a:r>
              <a:rPr dirty="0"/>
              <a:t>✓ </a:t>
            </a:r>
            <a:r>
              <a:rPr dirty="0" err="1"/>
              <a:t>Somatório</a:t>
            </a:r>
            <a:r>
              <a:rPr dirty="0"/>
              <a:t> </a:t>
            </a:r>
            <a:r>
              <a:rPr dirty="0" err="1"/>
              <a:t>correto</a:t>
            </a:r>
            <a:r>
              <a:rPr dirty="0"/>
              <a:t> (Jantar 6 + Spa 4 + Bar 4 + Transporte 3 = 17)</a:t>
            </a:r>
            <a:br>
              <a:rPr dirty="0"/>
            </a:br>
            <a:r>
              <a:rPr dirty="0"/>
              <a:t>✓ </a:t>
            </a:r>
            <a:r>
              <a:rPr dirty="0" err="1"/>
              <a:t>Lógica</a:t>
            </a:r>
            <a:r>
              <a:rPr dirty="0"/>
              <a:t> de </a:t>
            </a:r>
            <a:r>
              <a:rPr dirty="0" err="1"/>
              <a:t>agregação</a:t>
            </a:r>
            <a:r>
              <a:rPr dirty="0"/>
              <a:t> </a:t>
            </a:r>
            <a:r>
              <a:rPr dirty="0" err="1"/>
              <a:t>funcional</a:t>
            </a:r>
            <a:br>
              <a:rPr dirty="0"/>
            </a:br>
            <a:r>
              <a:rPr dirty="0"/>
              <a:t>✓ Todos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serviços</a:t>
            </a:r>
            <a:r>
              <a:rPr dirty="0"/>
              <a:t> </a:t>
            </a:r>
            <a:r>
              <a:rPr dirty="0" err="1"/>
              <a:t>contabilizados</a:t>
            </a:r>
            <a:r>
              <a:rPr dirty="0"/>
              <a:t> </a:t>
            </a:r>
            <a:r>
              <a:rPr dirty="0" err="1"/>
              <a:t>corretamente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B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5523F"/>
          </a:solidFill>
          <a:ln>
            <a:solidFill>
              <a:srgbClr val="655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Gráfico 1: Gasto Total por Hóspede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9144000" cy="18288"/>
          </a:xfrm>
          <a:prstGeom prst="rect">
            <a:avLst/>
          </a:prstGeom>
          <a:solidFill>
            <a:srgbClr val="CC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786E64"/>
                </a:solidFill>
              </a:defRPr>
            </a:pPr>
            <a:r>
              <a:t>Análise de receita por cliente em ordem decrescente (baseado nos dados do dataset)</a:t>
            </a:r>
          </a:p>
        </p:txBody>
      </p:sp>
      <p:pic>
        <p:nvPicPr>
          <p:cNvPr id="5" name="Picture 4" descr="Grafico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6400800" cy="317187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4846320"/>
          <a:ext cx="7498077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93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93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93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Cliente</a:t>
                      </a:r>
                    </a:p>
                  </a:txBody>
                  <a:tcPr>
                    <a:solidFill>
                      <a:srgbClr val="6552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Gasto Total</a:t>
                      </a:r>
                    </a:p>
                  </a:txBody>
                  <a:tcPr>
                    <a:solidFill>
                      <a:srgbClr val="6552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% Receita</a:t>
                      </a:r>
                    </a:p>
                  </a:txBody>
                  <a:tcPr>
                    <a:solidFill>
                      <a:srgbClr val="6552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John Smith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€1.250,00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37,5%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Roberto Lima</a:t>
                      </a:r>
                    </a:p>
                  </a:txBody>
                  <a:tcPr>
                    <a:solidFill>
                      <a:srgbClr val="C2A7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€980,00</a:t>
                      </a:r>
                    </a:p>
                  </a:txBody>
                  <a:tcPr>
                    <a:solidFill>
                      <a:srgbClr val="C2A7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29,4%</a:t>
                      </a:r>
                    </a:p>
                  </a:txBody>
                  <a:tcPr>
                    <a:solidFill>
                      <a:srgbClr val="C2A7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Ana Silva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€630,50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18,9%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Maria Ferreira</a:t>
                      </a:r>
                    </a:p>
                  </a:txBody>
                  <a:tcPr>
                    <a:solidFill>
                      <a:srgbClr val="C2A7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€270,00</a:t>
                      </a:r>
                    </a:p>
                  </a:txBody>
                  <a:tcPr>
                    <a:solidFill>
                      <a:srgbClr val="C2A7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8,1%</a:t>
                      </a:r>
                    </a:p>
                  </a:txBody>
                  <a:tcPr>
                    <a:solidFill>
                      <a:srgbClr val="C2A7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Carlos Sousa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€200,00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6,0%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B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5523F"/>
          </a:solidFill>
          <a:ln>
            <a:solidFill>
              <a:srgbClr val="655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Gráfico 2: Serviços Adicionais por Tipo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9144000" cy="18288"/>
          </a:xfrm>
          <a:prstGeom prst="rect">
            <a:avLst/>
          </a:prstGeom>
          <a:solidFill>
            <a:srgbClr val="CC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786E64"/>
                </a:solidFill>
              </a:defRPr>
            </a:pPr>
            <a:r>
              <a:t>Distribuição de demanda por tipo de serviço (resultado do Endpoint 3: Total 17 unidades)</a:t>
            </a:r>
          </a:p>
        </p:txBody>
      </p:sp>
      <p:pic>
        <p:nvPicPr>
          <p:cNvPr id="5" name="Picture 4" descr="Grafico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6400800" cy="3175226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4846320"/>
          <a:ext cx="7498076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Serviço</a:t>
                      </a:r>
                    </a:p>
                  </a:txBody>
                  <a:tcPr>
                    <a:solidFill>
                      <a:srgbClr val="6552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Quantidade</a:t>
                      </a:r>
                    </a:p>
                  </a:txBody>
                  <a:tcPr>
                    <a:solidFill>
                      <a:srgbClr val="6552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%</a:t>
                      </a:r>
                    </a:p>
                  </a:txBody>
                  <a:tcPr>
                    <a:solidFill>
                      <a:srgbClr val="6552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Receita</a:t>
                      </a:r>
                    </a:p>
                  </a:txBody>
                  <a:tcPr>
                    <a:solidFill>
                      <a:srgbClr val="6552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Jantar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35,3%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€200,00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Spa</a:t>
                      </a:r>
                    </a:p>
                  </a:txBody>
                  <a:tcPr>
                    <a:solidFill>
                      <a:srgbClr val="C2A7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C2A7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23,5%</a:t>
                      </a:r>
                    </a:p>
                  </a:txBody>
                  <a:tcPr>
                    <a:solidFill>
                      <a:srgbClr val="C2A7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€190,00</a:t>
                      </a:r>
                    </a:p>
                  </a:txBody>
                  <a:tcPr>
                    <a:solidFill>
                      <a:srgbClr val="C2A7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Bar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23,5%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€62,00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Transporte</a:t>
                      </a:r>
                    </a:p>
                  </a:txBody>
                  <a:tcPr>
                    <a:solidFill>
                      <a:srgbClr val="C2A7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C2A7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17,6%</a:t>
                      </a:r>
                    </a:p>
                  </a:txBody>
                  <a:tcPr>
                    <a:solidFill>
                      <a:srgbClr val="C2A7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€65,00</a:t>
                      </a:r>
                    </a:p>
                  </a:txBody>
                  <a:tcPr>
                    <a:solidFill>
                      <a:srgbClr val="C2A7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B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5523F"/>
          </a:solidFill>
          <a:ln>
            <a:solidFill>
              <a:srgbClr val="655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Gráfico 3: Distribuição por Unidade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9144000" cy="18288"/>
          </a:xfrm>
          <a:prstGeom prst="rect">
            <a:avLst/>
          </a:prstGeom>
          <a:solidFill>
            <a:srgbClr val="CC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786E64"/>
                </a:solidFill>
              </a:defRPr>
            </a:pPr>
            <a:r>
              <a:t>Análise geográfica de ocupação (resultado do Endpoint 2: 5 unidades, 6 reservas totais)</a:t>
            </a:r>
          </a:p>
        </p:txBody>
      </p:sp>
      <p:pic>
        <p:nvPicPr>
          <p:cNvPr id="5" name="Picture 4" descr="Grafico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6400800" cy="3168513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4846320"/>
          <a:ext cx="7498077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93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93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93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Unidade</a:t>
                      </a:r>
                    </a:p>
                  </a:txBody>
                  <a:tcPr>
                    <a:solidFill>
                      <a:srgbClr val="6552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Reservas</a:t>
                      </a:r>
                    </a:p>
                  </a:txBody>
                  <a:tcPr>
                    <a:solidFill>
                      <a:srgbClr val="6552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%</a:t>
                      </a:r>
                    </a:p>
                  </a:txBody>
                  <a:tcPr>
                    <a:solidFill>
                      <a:srgbClr val="6552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PO - Porto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33,3%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LS - Lisboa</a:t>
                      </a:r>
                    </a:p>
                  </a:txBody>
                  <a:tcPr>
                    <a:solidFill>
                      <a:srgbClr val="C2A7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C2A7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16,7%</a:t>
                      </a:r>
                    </a:p>
                  </a:txBody>
                  <a:tcPr>
                    <a:solidFill>
                      <a:srgbClr val="C2A7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FR - Faro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16,7%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CB - Covilhã</a:t>
                      </a:r>
                    </a:p>
                  </a:txBody>
                  <a:tcPr>
                    <a:solidFill>
                      <a:srgbClr val="C2A7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C2A7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16,7%</a:t>
                      </a:r>
                    </a:p>
                  </a:txBody>
                  <a:tcPr>
                    <a:solidFill>
                      <a:srgbClr val="C2A7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BR - Braga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16,7%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B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5523F"/>
          </a:solidFill>
          <a:ln>
            <a:solidFill>
              <a:srgbClr val="655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Gráfico 4: Gasto em Serviços por Cliente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9144000" cy="18288"/>
          </a:xfrm>
          <a:prstGeom prst="rect">
            <a:avLst/>
          </a:prstGeom>
          <a:solidFill>
            <a:srgbClr val="CC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786E64"/>
                </a:solidFill>
              </a:defRPr>
            </a:pPr>
            <a:r>
              <a:t>Análise desagregada de gastos em serviços adicionais por cliente</a:t>
            </a:r>
          </a:p>
        </p:txBody>
      </p:sp>
      <p:pic>
        <p:nvPicPr>
          <p:cNvPr id="5" name="Picture 4" descr="Grafico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680960" cy="380022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171823"/>
            <a:ext cx="768096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5523F"/>
                </a:solidFill>
              </a:defRPr>
            </a:pPr>
            <a:r>
              <a:rPr dirty="0"/>
              <a:t>Ana Silva (€182</a:t>
            </a:r>
            <a:r>
              <a:rPr lang="pt-PT" dirty="0"/>
              <a:t>)</a:t>
            </a:r>
            <a:r>
              <a:rPr dirty="0"/>
              <a:t> • Roberto Lima (€200)</a:t>
            </a:r>
            <a:br>
              <a:rPr dirty="0"/>
            </a:br>
            <a:r>
              <a:rPr dirty="0"/>
              <a:t>Maria Ferreira (€70)</a:t>
            </a:r>
            <a:r>
              <a:rPr lang="pt-PT" dirty="0"/>
              <a:t> </a:t>
            </a:r>
            <a:r>
              <a:rPr dirty="0"/>
              <a:t>• John Smith (€50)</a:t>
            </a:r>
            <a:br>
              <a:rPr dirty="0"/>
            </a:br>
            <a:r>
              <a:rPr dirty="0"/>
              <a:t>Carlos Sousa (€0</a:t>
            </a:r>
            <a:r>
              <a:rPr lang="pt-PT" dirty="0"/>
              <a:t>)</a:t>
            </a: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B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5523F"/>
          </a:solidFill>
          <a:ln>
            <a:solidFill>
              <a:srgbClr val="655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Infraestrutura - MongoDB Cluster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9144000" cy="18288"/>
          </a:xfrm>
          <a:prstGeom prst="rect">
            <a:avLst/>
          </a:prstGeom>
          <a:solidFill>
            <a:srgbClr val="CC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786E64"/>
                </a:solidFill>
              </a:defRPr>
            </a:pPr>
            <a:r>
              <a:t>Persistência distribuída com alta disponibilidade para armazenar todos os dados validados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63C32"/>
                </a:solidFill>
              </a:defRPr>
            </a:pPr>
            <a:r>
              <a:t>✓ Cluster com 3 nós em replicação automática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63C32"/>
                </a:solidFill>
              </a:defRPr>
            </a:pPr>
            <a:r>
              <a:t>✓ Eleição automática de primário em caso de falha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63C32"/>
                </a:solidFill>
              </a:defRPr>
            </a:pPr>
            <a:r>
              <a:t>✓ Índices otimizados: numero_reserva (único), id_cliente, unidade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63C32"/>
                </a:solidFill>
              </a:defRPr>
            </a:pPr>
            <a:r>
              <a:t>✓ Escrita com confirmação de maioria (w=2)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63C32"/>
                </a:solidFill>
              </a:defRPr>
            </a:pPr>
            <a:r>
              <a:t>✓ Tolerância a falhas: Continua operando com 2 de 3 nós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B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5523F"/>
          </a:solidFill>
          <a:ln>
            <a:solidFill>
              <a:srgbClr val="655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Validação e Qualidade de Dados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9144000" cy="18288"/>
          </a:xfrm>
          <a:prstGeom prst="rect">
            <a:avLst/>
          </a:prstGeom>
          <a:solidFill>
            <a:srgbClr val="CC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786E64"/>
                </a:solidFill>
              </a:defRPr>
            </a:pPr>
            <a:r>
              <a:t>Verificação de conformidade e qualidade dos dados em todo o pipeline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7498077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93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93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93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Aspecto</a:t>
                      </a:r>
                    </a:p>
                  </a:txBody>
                  <a:tcPr>
                    <a:solidFill>
                      <a:srgbClr val="6552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6552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Detalhes</a:t>
                      </a:r>
                    </a:p>
                  </a:txBody>
                  <a:tcPr>
                    <a:solidFill>
                      <a:srgbClr val="6552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Conformidade XSD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✓ 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0 erros encontrados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Integridade Referencial</a:t>
                      </a:r>
                    </a:p>
                  </a:txBody>
                  <a:tcPr>
                    <a:solidFill>
                      <a:srgbClr val="C2A7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✓ OK</a:t>
                      </a:r>
                    </a:p>
                  </a:txBody>
                  <a:tcPr>
                    <a:solidFill>
                      <a:srgbClr val="C2A7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Sem duplicatas ou nulos</a:t>
                      </a:r>
                    </a:p>
                  </a:txBody>
                  <a:tcPr>
                    <a:solidFill>
                      <a:srgbClr val="C2A7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Padrão ID Cliente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✓ 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Todos seguem [A-Z]{3}[0-9]{3}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Valores Monetários</a:t>
                      </a:r>
                    </a:p>
                  </a:txBody>
                  <a:tcPr>
                    <a:solidFill>
                      <a:srgbClr val="C2A7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✓ Precisos</a:t>
                      </a:r>
                    </a:p>
                  </a:txBody>
                  <a:tcPr>
                    <a:solidFill>
                      <a:srgbClr val="C2A7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2 casas decimais</a:t>
                      </a:r>
                    </a:p>
                  </a:txBody>
                  <a:tcPr>
                    <a:solidFill>
                      <a:srgbClr val="C2A7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Cardinalidade Serviços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✓ 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63C32"/>
                          </a:solidFill>
                        </a:defRPr>
                      </a:pPr>
                      <a:r>
                        <a:t>Máximo 4 serviços por reserva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B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5523F"/>
          </a:solidFill>
          <a:ln>
            <a:solidFill>
              <a:srgbClr val="655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Conclusões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9144000" cy="18288"/>
          </a:xfrm>
          <a:prstGeom prst="rect">
            <a:avLst/>
          </a:prstGeom>
          <a:solidFill>
            <a:srgbClr val="CC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786E64"/>
                </a:solidFill>
              </a:defRPr>
            </a:pPr>
            <a:r>
              <a:t>Resumo executivo do projeto e seus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63C32"/>
                </a:solidFill>
              </a:defRPr>
            </a:pPr>
            <a:r>
              <a:t>✓ Sistema completamente implementado e operacional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63C32"/>
                </a:solidFill>
              </a:defRPr>
            </a:pPr>
            <a:r>
              <a:t>✓ Todas as 4 camadas técnicas funcionando corretamente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63C32"/>
                </a:solidFill>
              </a:defRPr>
            </a:pPr>
            <a:r>
              <a:t>✓ Dados íntegros, validados (XSD) e persistidos (MongoDB)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63C32"/>
                </a:solidFill>
              </a:defRPr>
            </a:pPr>
            <a:r>
              <a:t>✓ APIs com performance superior (&lt;200ms em todos endpoints)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63C32"/>
                </a:solidFill>
              </a:defRPr>
            </a:pPr>
            <a:r>
              <a:t>✓ Pronto para análise avançada e tomada de decisão estratégica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1585</Words>
  <Application>Microsoft Office PowerPoint</Application>
  <PresentationFormat>Apresentação no Ecrã (4:3)</PresentationFormat>
  <Paragraphs>217</Paragraphs>
  <Slides>22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Henrique Samuel Ribeiro Carneiro</cp:lastModifiedBy>
  <cp:revision>4</cp:revision>
  <dcterms:created xsi:type="dcterms:W3CDTF">2013-01-27T09:14:16Z</dcterms:created>
  <dcterms:modified xsi:type="dcterms:W3CDTF">2026-01-13T18:39:02Z</dcterms:modified>
  <cp:category/>
</cp:coreProperties>
</file>