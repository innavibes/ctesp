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SISTEMA DE GESTÃO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980B9"/>
                </a:solidFill>
              </a:defRPr>
            </a:pPr>
            <a:r>
              <a:t>DE RESERVAS HOTELEIRO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Visão Geral do Projeto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Sistema integrado que combina múltiplas tecnologias para gestão eficiente de reservas hoteleiras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Validação de dados através de esquema XSD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Endpoints REST implementados em XQuery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Persistência distribuída em MongoDB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Análise visual com dashboards interativos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Performance otimizada (&lt;200ms por requisição)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Arquitetura em Camadas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O sistema é dividido em 4 camadas principais para garantir modularidade e manutenibilidade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7498077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Camada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Tecnologia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Responsabilidade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XSD 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Garantir conformidade de dados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API REST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XQuery/BaseX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Consultas e agregações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Persistência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MongoDB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Armazenamento distribuído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Visualização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Dashboards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Análise visual de dados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Validação de Dados - XSD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Esquema XSD define a estrutura e restrições de validação para documentos XML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solidFill>
            <a:srgbClr val="ECF0F1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defRPr sz="1000">
                <a:solidFill>
                  <a:srgbClr val="34495E"/>
                </a:solidFill>
                <a:latin typeface="Courier New"/>
              </a:defRPr>
            </a:pPr>
            <a:r>
              <a:t>&lt;xs:element name="reserva"&gt;</a:t>
            </a:r>
            <a:br/>
            <a:r>
              <a:t>  &lt;xs:complexType&gt;</a:t>
            </a:r>
            <a:br/>
            <a:r>
              <a:t>    &lt;xs:sequence&gt;</a:t>
            </a:r>
            <a:br/>
            <a:r>
              <a:t>      &lt;xs:element name="numero_reserva" type="xs:string"/&gt;</a:t>
            </a:r>
            <a:br/>
            <a:r>
              <a:t>      &lt;xs:element name="unidade"&gt;</a:t>
            </a:r>
            <a:br/>
            <a:r>
              <a:t>        &lt;xs:restriction base="xs:string"&gt;</a:t>
            </a:r>
            <a:br/>
            <a:r>
              <a:t>          &lt;xs:enumeration value="PO"/&gt;</a:t>
            </a:r>
            <a:br/>
            <a:r>
              <a:t>          &lt;xs:enumeration value="LS"/&gt;</a:t>
            </a:r>
            <a:br/>
            <a:r>
              <a:t>          &lt;xs:enumeration value="FR"/&gt;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80B9"/>
                </a:solidFill>
              </a:defRPr>
            </a:pPr>
            <a:r>
              <a:t>PO=Porto | LS=Lisboa | FR=Faro | CB=Covilhã | BR=Braga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Validação de Dados - XSD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Restrições de validação aplicadas aos campos principais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7498077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Campo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Restrição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id_cliente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[A-Z]{3}[0-9]{3}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unidade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5 valores permitidos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quantidade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&gt;=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servicos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Array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maxOccurs=4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valor_total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&gt;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✓ Validação 100%: 0 erros detectados | ✓ Conformidade integral: Todos os 6 registos validam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Exemplo de Documento XML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defRPr sz="1000">
                <a:solidFill>
                  <a:srgbClr val="34495E"/>
                </a:solidFill>
                <a:latin typeface="Courier New"/>
              </a:defRPr>
            </a:pPr>
            <a:r>
              <a:t>&lt;hotel&gt;</a:t>
            </a:r>
            <a:br/>
            <a:r>
              <a:t>  &lt;reserva&gt;</a:t>
            </a:r>
            <a:br/>
            <a:r>
              <a:t>    &lt;numero_reserva&gt;RES1001&lt;/numero_reserva&gt;</a:t>
            </a:r>
            <a:br/>
            <a:r>
              <a:t>    &lt;unidade&gt;PO&lt;/unidade&gt;</a:t>
            </a:r>
            <a:br/>
            <a:r>
              <a:t>    &lt;hospede&gt;</a:t>
            </a:r>
            <a:br/>
            <a:r>
              <a:t>      &lt;id_cliente&gt;CLI001&lt;/id_cliente&gt;</a:t>
            </a:r>
            <a:br/>
            <a:r>
              <a:t>      &lt;nome&gt;Ana Silva&lt;/nome&gt;</a:t>
            </a:r>
            <a:br/>
            <a:r>
              <a:t>    &lt;/hospede&gt;</a:t>
            </a:r>
            <a:br/>
            <a:r>
              <a:t>    &lt;servicos_adicionais&gt;</a:t>
            </a:r>
            <a:br/>
            <a:r>
              <a:t>      &lt;servico&gt;</a:t>
            </a:r>
            <a:br/>
            <a:r>
              <a:t>        &lt;nome&gt;Spa&lt;/nome&gt;</a:t>
            </a:r>
            <a:br/>
            <a:r>
              <a:t>        &lt;preco&gt;50.00&lt;/preco&gt;</a:t>
            </a:r>
            <a:br/>
            <a:r>
              <a:t>        &lt;quantidade&gt;2&lt;/quantidade&gt;</a:t>
            </a:r>
            <a:br/>
            <a:r>
              <a:t>      &lt;/servico&gt;</a:t>
            </a:r>
            <a:br/>
            <a:r>
              <a:t>    &lt;/servicos_adicionais&gt;</a:t>
            </a:r>
            <a:br/>
            <a:r>
              <a:t>    &lt;valor_total&gt;450.00&lt;/valor_total&gt;</a:t>
            </a:r>
            <a:br/>
            <a:r>
              <a:t>  &lt;/reserva&gt;</a:t>
            </a:r>
            <a:br/>
            <a:r>
              <a:t>&lt;/hotel&gt;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Evidência 1: Validação XSD bem-sucedida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Documento hotel.xml foi validado contra esquema hotel.xsd - Resultado: 100% conformidade</a:t>
            </a:r>
          </a:p>
        </p:txBody>
      </p:sp>
      <p:pic>
        <p:nvPicPr>
          <p:cNvPr id="5" name="Picture 4" descr="Evidencia_1_Validacao_XS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7315200" cy="3975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0292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✓ 0 erros encontrados</a:t>
            </a:r>
            <a:br/>
            <a:r>
              <a:t>✓ Estrutura conforme especificação XSD</a:t>
            </a:r>
            <a:br/>
            <a:r>
              <a:t>✓ Conformidade integral comprovada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Dataset - Estatísticas Completas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Visão geral dos dados persistidos no sistema após validação XSD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498077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Descrição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Total de Reservas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Documentos XML validados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Clientes Únicos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Ana Silva, Carlos Sousa, John Smith, Maria Ferreira, Roberto Lima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Unidades Distintas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PO, LS, FR, CB, BR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Serviços Adicionais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8 unidades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Jantar, Spa, Bar, Transporte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Receita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€3.330,50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Soma de todas as reservas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Valor Médio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€555,08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Por reserva individual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API REST em XQuery - 3 Endpoints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Endpoints implementados em XQuery com BaseX para consulta e agregação de dados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Método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Descrição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/reservas/{id}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Consulta por 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35ms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/estatisticas/unidades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Agregação por unidade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54ms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/estatisticas/servicos/total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Total de serviços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163ms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Todos retornam HTTP 200 OK</a:t>
            </a:r>
            <a:br/>
            <a:r>
              <a:t>Todos executam em &lt; 200ms (performance aceitável)</a:t>
            </a:r>
            <a:br/>
            <a:r>
              <a:t>BaseX como servidor XQuery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Endpoint 1: Consulta de Reservas por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/reservas/{id_cliente} - Busca todas as reservas de um cliente específico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2926080"/>
          </a:xfrm>
          <a:prstGeom prst="rect">
            <a:avLst/>
          </a:prstGeom>
          <a:solidFill>
            <a:srgbClr val="ECF0F1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defRPr sz="1000">
                <a:solidFill>
                  <a:srgbClr val="34495E"/>
                </a:solidFill>
                <a:latin typeface="Courier New"/>
              </a:defRPr>
            </a:pPr>
            <a:r>
              <a:t>declare %rest:path("reservas/{$id}")</a:t>
            </a:r>
            <a:br/>
            <a:r>
              <a:t>  %rest:GET</a:t>
            </a:r>
            <a:br/>
            <a:r>
              <a:t>function page:reservas-cliente($id) {</a:t>
            </a:r>
            <a:br/>
            <a:r>
              <a:t>  let $db := db:get('hotel')</a:t>
            </a:r>
            <a:br/>
            <a:r>
              <a:t>  for $r in $db/hotel/reserva</a:t>
            </a:r>
            <a:br/>
            <a:r>
              <a:t>  where $r/hospede/id_cliente = $id</a:t>
            </a:r>
            <a:br/>
            <a:r>
              <a:t>  return $r</a:t>
            </a:r>
            <a:br/>
            <a: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3366"/>
                </a:solidFill>
              </a:defRPr>
            </a:pPr>
            <a:r>
              <a:t>Lógica: Carrega BD 'hotel' → Itera reservas → Filtra por id_cliente → Retorna resultado</a:t>
            </a:r>
            <a:br/>
            <a:r>
              <a:t>Exemplo: /reservas/CLI001 retorna 2 reservas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Evidência 2: Endpoint 1 em Execução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/reservas/CLI001 → Resposta: 2 reservas | HTTP 200 OK | Tempo: 35ms</a:t>
            </a:r>
          </a:p>
        </p:txBody>
      </p:sp>
      <p:pic>
        <p:nvPicPr>
          <p:cNvPr id="5" name="Picture 4" descr="Evidência_1_A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394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✓ Resposta XML estruturada</a:t>
            </a:r>
            <a:br/>
            <a:r>
              <a:t>✓ Todos os campos retornam (hospede, datas, serviços, valor_total)</a:t>
            </a:r>
            <a:br/>
            <a:r>
              <a:t>✓ Performance excelente: 35ms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Endpoint 2: Estatísticas por Unidade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/estatisticas/unidades - Retorna agregação de reservas por unidade hoteleira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solidFill>
            <a:srgbClr val="ECF0F1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defRPr sz="1000">
                <a:solidFill>
                  <a:srgbClr val="34495E"/>
                </a:solidFill>
                <a:latin typeface="Courier New"/>
              </a:defRPr>
            </a:pPr>
            <a:r>
              <a:t>declare %rest:path("estatisticas/unidades")</a:t>
            </a:r>
            <a:br/>
            <a:r>
              <a:t>  %rest:GET</a:t>
            </a:r>
            <a:br/>
            <a:r>
              <a:t>function page:reservas-por-unidade() {</a:t>
            </a:r>
            <a:br/>
            <a:r>
              <a:t>  let $db := db:get('hotel')</a:t>
            </a:r>
            <a:br/>
            <a:r>
              <a:t>  let $unidades := distinct-values($db/hotel/reserva/unidade)</a:t>
            </a:r>
            <a:br/>
            <a:r>
              <a:t>  for $u in $unidades</a:t>
            </a:r>
            <a:br/>
            <a:r>
              <a:t>  let $qtd := count($db/hotel/reserva[unidade = $u])</a:t>
            </a:r>
            <a:br/>
            <a:r>
              <a:t>  return &lt;unidade sigla="{$u}"&gt;</a:t>
            </a:r>
            <a:br/>
            <a:r>
              <a:t>    &lt;total_reservas&gt;{$qtd}&lt;/total_reservas&gt;</a:t>
            </a:r>
            <a:br/>
            <a:r>
              <a:t>  &lt;/unidade&gt;</a:t>
            </a:r>
            <a:br/>
            <a:r>
              <a:t>};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Evidência 3: Endpoint 2 em Execução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/estatisticas/unidades → Resposta: 5 unidades | HTTP 200 OK | Tempo: 54ms</a:t>
            </a:r>
          </a:p>
        </p:txBody>
      </p:sp>
      <p:pic>
        <p:nvPicPr>
          <p:cNvPr id="5" name="Picture 4" descr="Evidência_2_A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193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✓ Agregação por unidade funcional</a:t>
            </a:r>
            <a:br/>
            <a:r>
              <a:t>✓ Contagens precisas (PO:2, LS:1, FR:1, CB:1, BR:1 = Total 6)</a:t>
            </a:r>
            <a:br/>
            <a:r>
              <a:t>✓ Resposta XML bem formada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Endpoint 3: Total de Serviços Vendidos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/estatisticas/servicos/total - Somatório de todas as unidades de serviços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solidFill>
            <a:srgbClr val="ECF0F1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defRPr sz="1000">
                <a:solidFill>
                  <a:srgbClr val="34495E"/>
                </a:solidFill>
                <a:latin typeface="Courier New"/>
              </a:defRPr>
            </a:pPr>
            <a:r>
              <a:t>declare %rest:path("estatisticas/servicos/total")</a:t>
            </a:r>
            <a:br/>
            <a:r>
              <a:t>  %rest:GET</a:t>
            </a:r>
            <a:br/>
            <a:r>
              <a:t>function page:total-servicos() {</a:t>
            </a:r>
            <a:br/>
            <a:r>
              <a:t>  let $db := db:get('hotel')</a:t>
            </a:r>
            <a:br/>
            <a:r>
              <a:t>  let $total := sum($db/hotel/reserva/servicos_adicionais/</a:t>
            </a:r>
            <a:br/>
            <a:r>
              <a:t>                    servico/quantidade)</a:t>
            </a:r>
            <a:br/>
            <a:r>
              <a:t>  return &lt;total_servicos_vendidos&gt;{$total}</a:t>
            </a:r>
            <a:br/>
            <a:r>
              <a:t>    &lt;/total_servicos_vendidos&gt;</a:t>
            </a:r>
            <a:br/>
            <a: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980B9"/>
                </a:solidFill>
              </a:defRPr>
            </a:pPr>
            <a:r>
              <a:t>Resultado esperado: 17 (Jantar 6 + Spa 4 + Bar 4 + Transporte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Evidência 4: Endpoint 3 em Execução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GET /estatisticas/servicos/total → Resposta: 17 | HTTP 200 OK | Tempo: 163ms</a:t>
            </a:r>
          </a:p>
        </p:txBody>
      </p:sp>
      <p:pic>
        <p:nvPicPr>
          <p:cNvPr id="5" name="Picture 4" descr="Evidência_3_A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197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✓ Somatório correto (Jantar 6 + Spa 4 + Bar 4 + Transporte 3 = 17)</a:t>
            </a:r>
            <a:br/>
            <a:r>
              <a:t>✓ Lógica de agregação funcional</a:t>
            </a:r>
            <a:br/>
            <a:r>
              <a:t>✓ Todos os serviços contabilizados corretamente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Gráfico 1: Gasto Total por Hóspede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Análise de receita por cliente em ordem decrescente (baseado nos dados do dataset)</a:t>
            </a:r>
          </a:p>
        </p:txBody>
      </p:sp>
      <p:pic>
        <p:nvPicPr>
          <p:cNvPr id="5" name="Picture 4" descr="Grafic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17187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846320"/>
          <a:ext cx="7498077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Cliente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Gasto Total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 Receita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John Smith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€1.250,00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37,5%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Roberto Lima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€980,00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29,4%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Ana Silva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€630,50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18,9%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Maria Ferreira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€270,00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8,1%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Carlos Sousa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€200,00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6,0%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Gráfico 2: Serviços Adicionais por Tipo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Distribuição de demanda por tipo de serviço (resultado do Endpoint 3: Total 17 unidades)</a:t>
            </a:r>
          </a:p>
        </p:txBody>
      </p:sp>
      <p:pic>
        <p:nvPicPr>
          <p:cNvPr id="5" name="Picture 4" descr="Grafico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17522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846320"/>
          <a:ext cx="7498076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Serviço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Quantidade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Receita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Jantar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35,3%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€200,00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Spa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23,5%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€190,00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23,5%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€62,00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Transporte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17,6%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€65,00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Gráfico 3: Distribuição por Unidade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Análise geográfica de ocupação (resultado do Endpoint 2: 5 unidades, 6 reservas totais)</a:t>
            </a:r>
          </a:p>
        </p:txBody>
      </p:sp>
      <p:pic>
        <p:nvPicPr>
          <p:cNvPr id="5" name="Picture 4" descr="Grafico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16851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846320"/>
          <a:ext cx="7498077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Unidade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Reservas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PO - Porto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33,3%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LS - Lisboa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16,7%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FR - Faro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16,7%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CB - Covilhã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16,7%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BR - Braga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16,7%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Gráfico 4: Gasto em Serviços por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Análise desagregada de gastos em serviços adicionais por cliente</a:t>
            </a:r>
          </a:p>
        </p:txBody>
      </p:sp>
      <p:pic>
        <p:nvPicPr>
          <p:cNvPr id="5" name="Picture 4" descr="Grafico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680960" cy="38002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389120"/>
            <a:ext cx="7680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Ana Silva (€182): Maior diversidade • Roberto Lima (€200): Cliente VIP</a:t>
            </a:r>
            <a:br/>
            <a:r>
              <a:t>Maria Ferreira (€70): Básico • John Smith (€50): Mínimo</a:t>
            </a:r>
            <a:br/>
            <a:r>
              <a:t>Carlos Sousa (€0): Hospedagem simples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Infraestrutura - MongoDB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5A5A6"/>
                </a:solidFill>
              </a:defRPr>
            </a:pPr>
            <a:r>
              <a:t>Persistência distribuída com alta disponibilidade para armazenar todos os dados validados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Cluster com 3 nós em replicação automática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Eleição automática de primário em caso de falha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Índices otimizados: numero_reserva (único), id_cliente, unidade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Escrita com confirmação de maioria (w=2)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Tolerância a falhas: Continua operando com 2 de 3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Validação e Qualidade de Dados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Verificação de conformidade e qualidade dos dados em todo o pipeline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498077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9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Detalhes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Conformidade XSD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✓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0 erros encontrados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Integridade Referencial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✓ OK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Sem duplicatas ou nulos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Padrão ID 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✓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Todos seguem [A-Z]{3}[0-9]{3}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Valores Monetários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✓ Precisos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2 casas decimais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Cardinalidade Serviços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✓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4495E"/>
                          </a:solidFill>
                        </a:defRPr>
                      </a:pPr>
                      <a:r>
                        <a:t>Máximo 4 serviços por reserva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5A5A6"/>
                </a:solidFill>
              </a:defRPr>
            </a:pPr>
            <a:r>
              <a:t>Resumo executivo do projeto e seus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Sistema completamente implementado e operacional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Todas as 4 camadas técnicas funcionando corretamente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Dados íntegros, validados (XSD) e persistidos (MongoDB)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APIs com performance superior (&lt;200ms em todos endpoints)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4495E"/>
                </a:solidFill>
              </a:defRPr>
            </a:pPr>
            <a:r>
              <a:t>✓ Pronto para análise avançada e tomada de decisão estratégica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1592</Words>
  <Application>Microsoft Office PowerPoint</Application>
  <PresentationFormat>Apresentação no Ecrã (4:3)</PresentationFormat>
  <Paragraphs>217</Paragraphs>
  <Slides>22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Henrique Samuel Ribeiro Carneiro</cp:lastModifiedBy>
  <cp:revision>2</cp:revision>
  <dcterms:created xsi:type="dcterms:W3CDTF">2013-01-27T09:14:16Z</dcterms:created>
  <dcterms:modified xsi:type="dcterms:W3CDTF">2026-01-13T16:28:14Z</dcterms:modified>
  <cp:category/>
</cp:coreProperties>
</file>